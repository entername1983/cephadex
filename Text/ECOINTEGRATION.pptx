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6ECE17-2236-49BA-BB1F-039A21C8C2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FA5756-D979-4D13-B1B4-81DFCE5E61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D3E0D1-AEEA-4CBD-BE46-27A28C50AE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691E61-2CCA-4BB6-8192-AEE3133988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675F10-3D82-4E4C-AB93-036499C0F7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09DC85-837A-4E83-8B4A-E149537AB2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796BEB-9F37-47B5-B0CB-1FD92E8D26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938A49-8FE5-46D9-B0EE-601F7F8725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C1D283-BC13-4512-AF69-E4BB5F4051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601C0E-D701-4D02-88EB-74B0D179A4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FB545A-8464-4808-BA0E-6565096B21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A9EBDE-41C9-4138-83D5-B975AD33CD3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23147D-539D-4FCB-9809-5444101507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B23932-B26D-4E2C-B25B-A4C7B196D7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323E09-E91E-423D-9EC4-73DC9BBCB3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7AB897-5EAF-49E1-9175-6CAB7BE16E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F2D0D1-775A-490E-B504-3C49A9C21A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FD2E99-BC51-4794-BC7A-9E3C81F405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AA885B-4A5C-4C02-9A5B-D2545C2F94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0C3C70-0DCA-4818-8984-7AE2B99DEF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5786AD-9A81-4F62-A555-BF7341560D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A0C28A-AAE0-4D2C-819F-08B08F57EF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969E73-66F2-4A84-99EE-DCBEF4573C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E3EB9E-36F1-4D11-9D03-F1C496E5A56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等线 Light"/>
              </a:rPr>
              <a:t>Click to edit Master title style</a:t>
            </a:r>
            <a:endParaRPr b="0" lang="en-IE" sz="60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IE" sz="1200" spc="-1" strike="noStrike">
                <a:solidFill>
                  <a:srgbClr val="8b8b8b"/>
                </a:solidFill>
                <a:latin typeface="等线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rgbClr val="8b8b8b"/>
                </a:solidFill>
                <a:latin typeface="等线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E" sz="1200" spc="-1" strike="noStrike">
                <a:solidFill>
                  <a:srgbClr val="8b8b8b"/>
                </a:solidFill>
                <a:latin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11DB61-2448-40E4-AA47-7DF896576858}" type="slidenum">
              <a:rPr b="0" lang="en-IE" sz="1200" spc="-1" strike="noStrike">
                <a:solidFill>
                  <a:srgbClr val="8b8b8b"/>
                </a:solidFill>
                <a:latin typeface="等线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800" spc="-1" strike="noStrike">
                <a:solidFill>
                  <a:srgbClr val="000000"/>
                </a:solidFill>
                <a:latin typeface="等线"/>
              </a:rPr>
              <a:t>Click to edit the outline text format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000000"/>
                </a:solidFill>
                <a:latin typeface="等线"/>
              </a:rPr>
              <a:t>Second Outline Level</a:t>
            </a:r>
            <a:endParaRPr b="0" lang="en-IE" sz="2000" spc="-1" strike="noStrike">
              <a:solidFill>
                <a:srgbClr val="000000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等线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等线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等线"/>
              </a:rPr>
              <a:t>Fifth Outline Level</a:t>
            </a:r>
            <a:endParaRPr b="0" lang="en-IE" sz="2000" spc="-1" strike="noStrike">
              <a:solidFill>
                <a:srgbClr val="000000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等线"/>
              </a:rPr>
              <a:t>Sixth Outline Level</a:t>
            </a:r>
            <a:endParaRPr b="0" lang="en-IE" sz="2000" spc="-1" strike="noStrike">
              <a:solidFill>
                <a:srgbClr val="000000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等线"/>
              </a:rPr>
              <a:t>Seventh Outline Level</a:t>
            </a:r>
            <a:endParaRPr b="0" lang="en-IE" sz="2000" spc="-1" strike="noStrike">
              <a:solidFill>
                <a:srgbClr val="000000"/>
              </a:solidFill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等线 Light"/>
              </a:rPr>
              <a:t>Click to edit Master title style</a:t>
            </a:r>
            <a:endParaRPr b="0" lang="en-IE" sz="44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Edit Master text styles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等线"/>
              </a:rPr>
              <a:t>Second level</a:t>
            </a:r>
            <a:endParaRPr b="0" lang="en-IE" sz="2400" spc="-1" strike="noStrike">
              <a:solidFill>
                <a:srgbClr val="000000"/>
              </a:solidFill>
              <a:latin typeface="等线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等线"/>
              </a:rPr>
              <a:t>Third level</a:t>
            </a:r>
            <a:endParaRPr b="0" lang="en-IE" sz="2000" spc="-1" strike="noStrike">
              <a:solidFill>
                <a:srgbClr val="000000"/>
              </a:solidFill>
              <a:latin typeface="等线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Fourth level</a:t>
            </a: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</a:rPr>
              <a:t>Fifth level</a:t>
            </a:r>
            <a:endParaRPr b="0" lang="en-IE" sz="18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IE" sz="1200" spc="-1" strike="noStrike">
                <a:solidFill>
                  <a:srgbClr val="8b8b8b"/>
                </a:solidFill>
                <a:latin typeface="等线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rgbClr val="8b8b8b"/>
                </a:solidFill>
                <a:latin typeface="等线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E" sz="1200" spc="-1" strike="noStrike">
                <a:solidFill>
                  <a:srgbClr val="8b8b8b"/>
                </a:solidFill>
                <a:latin typeface="等线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E74D66-35ED-4303-8B3C-1AF9859E79E9}" type="slidenum">
              <a:rPr b="0" lang="en-IE" sz="1200" spc="-1" strike="noStrike">
                <a:solidFill>
                  <a:srgbClr val="8b8b8b"/>
                </a:solidFill>
                <a:latin typeface="等线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IE" sz="6000" spc="-1" strike="noStrike">
              <a:solidFill>
                <a:srgbClr val="000000"/>
              </a:solidFill>
              <a:latin typeface="等线 Ligh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buNone/>
            </a:pPr>
            <a:endParaRPr b="0" lang="en-IE" sz="2400" spc="-1" strike="noStrike">
              <a:solidFill>
                <a:srgbClr val="000000"/>
              </a:solidFill>
              <a:latin typeface="等线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等线 Light"/>
              </a:rPr>
              <a:t>Economic integration</a:t>
            </a:r>
            <a:endParaRPr b="0" lang="en-IE" sz="44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Goals: 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Understand the different forms of economic integration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Understand the pros and cons of economic integration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Understand how economic integration can change the patterns of trade (trade diversion, trade creation)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Note: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- Definitions are EXTREMELY important for this section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等线 Light"/>
              </a:rPr>
              <a:t>Economic integration</a:t>
            </a:r>
            <a:endParaRPr b="0" lang="en-IE" sz="4400" spc="-1" strike="noStrike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1251720" y="1650240"/>
            <a:ext cx="10445760" cy="482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000"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What is economic integration?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marL="214560" indent="-2145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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Increased co-operation &amp; co-ordination of economic policies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marL="214560" indent="-2145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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Giving up some amount of economic sovereignty to reap economic benefits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marL="214560" indent="-2145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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Increased trade, increased mobility of FoP, increased regulatory coordination, increased monetary coordination..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Forms of economic integration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marL="214560" indent="-2145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Preferential trade agreements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marL="214560" indent="-2145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Trading blocs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  <a:p>
            <a:pPr marL="214560" indent="-2145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等线"/>
              </a:rPr>
              <a:t>Monetary union</a:t>
            </a:r>
            <a:endParaRPr b="0" lang="en-IE" sz="2800" spc="-1" strike="noStrike">
              <a:solidFill>
                <a:srgbClr val="000000"/>
              </a:solidFill>
              <a:latin typeface="等线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LibreOffice/7.4.3.2$Windows_X86_64 LibreOffice_project/1048a8393ae2eeec98dff31b5c133c5f1d08b890</Application>
  <AppVersion>15.0000</AppVersion>
  <Words>2151</Words>
  <Paragraphs>235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2018-12-06T07:57:15Z</dcterms:created>
  <dc:creator>Kevin McCarthy</dc:creator>
  <dc:description/>
  <dc:language>en-IE</dc:language>
  <cp:lastModifiedBy/>
  <dcterms:modified xsi:type="dcterms:W3CDTF">2023-01-10T08:23:03Z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3</vt:i4>
  </property>
  <property fmtid="{D5CDD505-2E9C-101B-9397-08002B2CF9AE}" pid="3" name="PresentationFormat">
    <vt:lpwstr>Widescreen</vt:lpwstr>
  </property>
  <property fmtid="{D5CDD505-2E9C-101B-9397-08002B2CF9AE}" pid="4" name="Slides">
    <vt:i4>33</vt:i4>
  </property>
</Properties>
</file>